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>
                <a:solidFill>
                  <a:srgbClr val="FFFFFF"/>
                </a:solidFill>
                <a:latin typeface="Segoe UI Black"/>
              </a:defRPr>
            </a:pPr>
            <a:r>
              <a:t>ROBUST04 RETRIEVAL:</a:t>
            </a:r>
            <a:br/>
            <a:r>
              <a:t>EXTENDED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FFFF"/>
                </a:solidFill>
                <a:latin typeface="Segoe UI Light"/>
              </a:defRPr>
            </a:pPr>
            <a:r>
              <a:t>Deep Dive into Hybrid Fusion &amp; Neural Architectures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l686xt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THE ROBUST04 CHALLENGE</a:t>
            </a:r>
          </a:p>
        </p:txBody>
      </p:sp>
      <p:pic>
        <p:nvPicPr>
          <p:cNvPr id="5" name="Picture 4" descr="tmp3h54wg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Context &amp; Complexity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Why is this hard?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250 Queries: High variance in difficulty.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Long Documents: Financial Times, LA Times (Prose).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Vocabulary Mismatch: 'Car' vs 'Automobile'.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Goal: Beat strong baseline BM25+RM3 (0.272 MAP).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l686xt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SYSTEM ARCHITECTURE</a:t>
            </a:r>
          </a:p>
        </p:txBody>
      </p:sp>
      <p:pic>
        <p:nvPicPr>
          <p:cNvPr id="5" name="Picture 4" descr="tmp3h54wg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The 3-Stage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Stage 1: Multi-Signal Candidate Retrieval (Fusion)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- Lexical (RM3), Learned Sparse (SPLADE), Dense (BGE)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Stage 2: Validation of Structure (SDM)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- Analyzing phrase dependence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Stage 3: Deep Neural Reranking (MonoT5)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- Cross-Encoder re-scoring of top 1000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l686xt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METHOD 1: LEARNED SPARSE (SPLADE)</a:t>
            </a:r>
          </a:p>
        </p:txBody>
      </p:sp>
      <p:pic>
        <p:nvPicPr>
          <p:cNvPr id="5" name="Picture 4" descr="tmp3h54wg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Solving Vocabulary Mismatch (Efficiency)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097280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Expands query/doc with latent terms (e.g., 'car' -&gt; 'vehicle').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Maintains sparse inverted index efficiency.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Contrast: Explicitly handles synonyms without heavy dense vectors.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Role: Adds high-recall candidates to the pool.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l686xt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METHOD 1: HYBRID DENSE (HYDE)</a:t>
            </a:r>
          </a:p>
        </p:txBody>
      </p:sp>
      <p:pic>
        <p:nvPicPr>
          <p:cNvPr id="5" name="Picture 4" descr="tmp3h54wg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Solving Vocabulary Mismatch (Semantics)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The Hallucination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Problem: Queries are short, Docs are long.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Solution (HyDE):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1. LLM hallucinates a 'fake' relevant passage.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2. BGE embeds the *fake* passage.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3. Retrieves real docs matching the hallucination.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Result: Drastically improves semantic recall.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l686xt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HYDE IN ACTION</a:t>
            </a:r>
          </a:p>
        </p:txBody>
      </p:sp>
      <p:pic>
        <p:nvPicPr>
          <p:cNvPr id="5" name="Picture 4" descr="tmp3h54wg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Success vs Failure Cases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53035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The Win: 'Hubble Achievements'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Query: 'Hubble Telescope Achievements'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Hallucination: '...supernova... dark energy... exoplanets...'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Impact: The DENSE model finds these latent terms.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Fusion Role: Dense finds what BM25 misses.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286000"/>
            <a:ext cx="53035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468880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The Risk: 'Radio Waves Cancer'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01752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Query: 'Radio Waves Brain Cancer'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Hallucination: '...new therapy to DESTROY cancer...'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Impact: Massive Drift (Risk -&gt; Therapy).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Safety Mechanism: We kept BM25 CLEAN (Original Query).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Result: Clean BM25 saved the query from HyDE's drift.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l686xt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METHOD 2: VALIDATION (SDM)</a:t>
            </a:r>
          </a:p>
        </p:txBody>
      </p:sp>
      <p:pic>
        <p:nvPicPr>
          <p:cNvPr id="5" name="Picture 4" descr="tmp3h54wg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Sequential Dependence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Understanding Markov Random Fields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Concept: Words don't exist in a vacuum. Order matters.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The 3 Feature Functions: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1. Unigram (Weight 0.75): Standard keywords (BM25).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2. #1 Ordered (Weight 0.10): 'White House'. Exact order.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3. #uw8 Unordered (Weight 0.15): 'President' ... 'White'. Within 8 words.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Validated: SDM improves candidates but Neural Models (Run 3) fix this implicitly.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l686xt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METHOD 3: NEURAL RERANKING</a:t>
            </a:r>
          </a:p>
        </p:txBody>
      </p:sp>
      <p:pic>
        <p:nvPicPr>
          <p:cNvPr id="5" name="Picture 4" descr="tmp3h54wg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Domain Adaptation (DuqGen)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Why this Model?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Model: cramraj8/duqgen-monot5-3b-robust04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It's not just big (3B), it's ADAPTED.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Technique: DocT5Query / DuqGen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1. Use LLM to generate synthetic queries for Robust04 docs.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2. Fine-tune MonoT5 on this synthetic data.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Result: Model learns the specific language of the corpus without seeing test labels.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l686xt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METHOD 3: HANDLING LONG DOCS</a:t>
            </a:r>
          </a:p>
        </p:txBody>
      </p:sp>
      <p:pic>
        <p:nvPicPr>
          <p:cNvPr id="5" name="Picture 4" descr="tmp3h54wg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MaxP Aggregation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The 'Needle in a Haystack'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Robust04 docs exceed 512 tokens.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Algorithm (MaxP):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1. Split doc into sliding windows (1500 chars).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2. Score ALL windows independently.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3. Doc Score = MAX(window scores).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Citations: Aligns with Birch (2019) &amp; PARADE-Max (2020).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l686xt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NEGATIVE RESULT: NEURAL PRF</a:t>
            </a:r>
          </a:p>
        </p:txBody>
      </p:sp>
      <p:pic>
        <p:nvPicPr>
          <p:cNvPr id="5" name="Picture 4" descr="tmp3h54wg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Why 'Better' Isn't Always Better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The Hypothesis vs Reality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Idea: Use MonoT5's top docs to expand the query (PRF).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Result: Performance DROPPED (-10% MAP).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Diagnosis: Query Drift.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- Neural models retrieve 'semantically' relevant text.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- Extracting keywords from them adds noise/drift away from original specific intent.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l686xt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PROCESS: OPTIMIZATION JOURNEY</a:t>
            </a:r>
          </a:p>
        </p:txBody>
      </p:sp>
      <p:pic>
        <p:nvPicPr>
          <p:cNvPr id="5" name="Picture 4" descr="tmp3h54wg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Ablations &amp; Tuning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What else did we try?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Prompt Engineering (HyDE): Tested 5+ templates. 'Write a news passage' outperformed 'Explain this concept'.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Fusion Grid Search: Tuned weights (Run 2 vs Run 3). Found that RM3 (0.55) must heavily anchor the Dense signal.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Dense-Only Ablation: Tried Pure BGE. Result: Good recall, terrible precision. Confirmed need for Fusion.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Model Sizing: Validated MonoT5-Small vs Base vs 3B. The 3B model was the only one to break the 0.35 MAP barrier.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l686xt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FINAL RESULTS</a:t>
            </a:r>
          </a:p>
        </p:txBody>
      </p:sp>
      <p:pic>
        <p:nvPicPr>
          <p:cNvPr id="5" name="Picture 4" descr="tmp3h54wg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Quantitative Impact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MAP Scores (Judged)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1. Baseline (BM25 + RM3): 0.272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2. Fusion (Sparse + Dense): 0.306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3. MonoT5-Base (Zero-Shot): 0.300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4. DuqGen-3B (Adapted): 0.378  &lt;-- WINNER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Total Improvement: +39%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l686xt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DISCUSSION &amp; FUTURE WORK</a:t>
            </a:r>
          </a:p>
        </p:txBody>
      </p:sp>
      <p:pic>
        <p:nvPicPr>
          <p:cNvPr id="5" name="Picture 4" descr="tmp3h54wg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What We Learned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Fusion &gt; Single Model: Diversity of signals is key.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Adaptation &gt; Size: The jump from 0.300 to 0.378 was driven by Domain Adaptation (DuqGen).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Simple Aggregation (MaxP) is robust for sparse relevance.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Future: Implement Zero-Shot Listwise Reranking (RankGPT) to improve aggregation without training data.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l686xt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REFERENCES</a:t>
            </a:r>
          </a:p>
        </p:txBody>
      </p:sp>
      <p:pic>
        <p:nvPicPr>
          <p:cNvPr id="5" name="Picture 4" descr="tmp3h54wg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Academic Foundation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1. Nogueira et al. (2020). Document Ranking with a Pretrained Sequence-to-Sequence Model.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2. Metzler &amp; Croft (2005). A Markov Random Field Model for Term Dependencies. (SDM)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3. Pradeep et al. (2021). The Expando-Mono-Duo Design Pattern (DuqGen).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4. Yilmaz et al. (2019). Birch: Cross-Domain Modeling of Sentence-Level Evidence.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5. Li et al. (2020). PARADE: Passage Representation Aggregation.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6. Gao et al. (2022). Precise Zero-Shot Dense Retrieval (HyDE).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l686xt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7432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>
                <a:solidFill>
                  <a:srgbClr val="FFFFFF"/>
                </a:solidFill>
                <a:latin typeface="Segoe UI Black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