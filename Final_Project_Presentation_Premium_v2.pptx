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1b993x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Segoe UI Black"/>
              </a:defRPr>
            </a:pPr>
            <a:r>
              <a:t>MAXIMIZING RETRIEVAL</a:t>
            </a:r>
            <a:br/>
            <a:r>
              <a:t>EFFECTIVENESS ON ROBUST04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FF"/>
                </a:solidFill>
                <a:latin typeface="Segoe UI Light"/>
              </a:defRPr>
            </a:pPr>
            <a:r>
              <a:t>Final Project - Part A | Text Retrieval &amp; Search Engines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THE CHALLENGE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Why is Robust04 difficult?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Dataset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250 Queries with highly variable difficulty.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Documents are extremely long (truncation risks).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Hard relevance judgments requiring high precision.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Baseline Goal: Beat BM25+RM3 (MAP 0.2719).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OUR ARCHITECTURE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A 3-Stage Hybrid System</a:t>
            </a:r>
          </a:p>
        </p:txBody>
      </p:sp>
      <p:pic>
        <p:nvPicPr>
          <p:cNvPr id="7" name="Picture 6" descr="tmpa6vscd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43200"/>
            <a:ext cx="27432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1</a:t>
            </a:r>
            <a:br/>
            <a:r>
              <a:t>Hybrid Retrieval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4048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mpa6vscd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43200"/>
            <a:ext cx="27432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2064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Stage 2</a:t>
            </a:r>
            <a:br/>
            <a:r>
              <a:t>Weighted Fusion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3474720"/>
            <a:ext cx="91440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mpin67viq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2560320"/>
            <a:ext cx="292608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0" y="320040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Stage 3</a:t>
            </a:r>
            <a:br/>
            <a:r>
              <a:t>Neural Reranking</a:t>
            </a:r>
            <a:br/>
            <a:r>
              <a:t>(MonoT5)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DENSE-HYDE HYBRID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Solving the 'Hallucination vs Drift' Dilemma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HyDE generates fake document passages.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Retrievers (BGE) love this semantic context.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Retrievers (BM25) get confused by fake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48640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Split the Query processing: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Lexical Models → See Original Query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Dense Models → See HyDE Passage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Result: +12% improvement over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SEQUENTIAL DEPENDENCE MODEL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Going Beyond Bag-of-Words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FFFF"/>
                </a:solidFill>
                <a:latin typeface="Segoe UI Semibold"/>
              </a:defRPr>
            </a:pPr>
            <a:r>
              <a:t>Modeling Term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Standard Bag-of-Words (BM25) ignores phrase structure.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SDM (Markov Random Field) captures local dependencies.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Weights used: Term (0.75), Ordered (0.10), Unordered (0.15).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Validated the stability of our lexical retrieval baseline.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NEURAL RERANKING: MONOT5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The Performance Driver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4389120"/>
          </a:xfrm>
          <a:prstGeom prst="round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Model: monot5-3b-robust04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Why it's critical: Standard transformers truncate text at 512 tokens.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Technique: MaxP Aggregation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Split document into sliding windows (passages).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Score every passage independently.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Document Score = MAX(Passage Scores).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• Ensures 'hidden' relevance is found deep in the 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  <a:latin typeface="Segoe UI Black"/>
              </a:defRPr>
            </a:pPr>
            <a:r>
              <a:t>RESULTS SUMMARY</a:t>
            </a:r>
          </a:p>
        </p:txBody>
      </p:sp>
      <p:pic>
        <p:nvPicPr>
          <p:cNvPr id="5" name="Picture 4" descr="tmpz5kfts4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1828800" cy="45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80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  <a:latin typeface="Segoe UI Light"/>
              </a:defRPr>
            </a:pPr>
            <a:r>
              <a:t>Total Relative Improvement: +39%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1828800" cy="1828800"/>
          </a:xfrm>
          <a:prstGeom prst="rect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148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0.272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Baseline</a:t>
            </a:r>
          </a:p>
          <a:p>
            <a:r>
              <a:t>(BM25)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828800" cy="2286000"/>
          </a:xfrm>
          <a:prstGeom prst="rect">
            <a:avLst/>
          </a:prstGeom>
          <a:solidFill>
            <a:srgbClr val="0078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3657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0.306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Fusion</a:t>
            </a:r>
          </a:p>
          <a:p>
            <a:r>
              <a:t>(Dense-HyDE)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743200"/>
            <a:ext cx="1828800" cy="3657600"/>
          </a:xfrm>
          <a:prstGeom prst="rect">
            <a:avLst/>
          </a:prstGeom>
          <a:solidFill>
            <a:srgbClr val="00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FFFF"/>
                </a:solidFill>
              </a:defRPr>
            </a:pPr>
            <a:r>
              <a:t>0.378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922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Final</a:t>
            </a:r>
          </a:p>
          <a:p>
            <a:r>
              <a:t>(MonoT5)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mpx81p74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37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>
                <a:solidFill>
                  <a:srgbClr val="00FFFF"/>
                </a:solidFill>
                <a:latin typeface="Segoe UI Black"/>
              </a:defRPr>
            </a:pPr>
            <a:r>
              <a:t>FINAL MAP: 0.378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675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C8C8C8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