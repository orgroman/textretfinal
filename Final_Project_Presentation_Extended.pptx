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>
                <a:solidFill>
                  <a:srgbClr val="FFFFFF"/>
                </a:solidFill>
                <a:latin typeface="Segoe UI Black"/>
              </a:defRPr>
            </a:pPr>
            <a:r>
              <a:t>ROBUST04 RETRIEVAL:</a:t>
            </a:r>
            <a:br/>
            <a:r>
              <a:t>EXTENDED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0"/>
            <a:ext cx="8503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FFFF"/>
                </a:solidFill>
                <a:latin typeface="Segoe UI Light"/>
              </a:defRPr>
            </a:pPr>
            <a:r>
              <a:t>Deep Dive into Hybrid Fusion &amp; Neural Architectures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h7pt0di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THE ROBUST04 CHALLENGE</a:t>
            </a:r>
          </a:p>
        </p:txBody>
      </p:sp>
      <p:pic>
        <p:nvPicPr>
          <p:cNvPr id="5" name="Picture 4" descr="tmpls3j2n2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Context &amp; Complexity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Why is this hard?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250 Queries: High variance in difficulty.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Long Documents: Financial Times, LA Times (Prose).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Vocabulary Mismatch: 'Car' vs 'Automobile'.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Goal: Beat strong baseline BM25+RM3 (0.272 MAP).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h7pt0di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SYSTEM ARCHITECTURE</a:t>
            </a:r>
          </a:p>
        </p:txBody>
      </p:sp>
      <p:pic>
        <p:nvPicPr>
          <p:cNvPr id="5" name="Picture 4" descr="tmpls3j2n2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The 3-Stage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Stage 1: Multi-Signal Candidate Retrieval (Fusion)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- Lexical (RM3), Learned Sparse (SPLADE), Dense (BGE)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Stage 2: Validation of Structure (SDM)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- Analyzing phrase dependence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Stage 3: Deep Neural Reranking (MonoT5)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- Cross-Encoder re-scoring of top 1000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h7pt0di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METHOD 1: LEARNED SPARSE (SPLADE)</a:t>
            </a:r>
          </a:p>
        </p:txBody>
      </p:sp>
      <p:pic>
        <p:nvPicPr>
          <p:cNvPr id="5" name="Picture 4" descr="tmpls3j2n2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Solving Vocabulary Mismatch (Efficiency)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097280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How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Expands query/doc with latent terms (e.g., 'car' -&gt; 'vehicle').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Maintains sparse inverted index efficiency.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Contrast: Explicitly handles synonyms without heavy dense vectors.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Role: Adds high-recall candidates to the pool.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h7pt0di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METHOD 1: HYBRID DENSE (HYDE)</a:t>
            </a:r>
          </a:p>
        </p:txBody>
      </p:sp>
      <p:pic>
        <p:nvPicPr>
          <p:cNvPr id="5" name="Picture 4" descr="tmpls3j2n2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Solving Vocabulary Mismatch (Semantics)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The Hallucination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Problem: Queries are short, Docs are long.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Solution (HyDE):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1. LLM hallucinates a 'fake' relevant passage.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2. BGE embeds the *fake* passage.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3. Retrieves real docs matching the hallucination.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Result: Drastically improves semantic recall.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h7pt0di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METHOD 2: VALIDATION (SDM)</a:t>
            </a:r>
          </a:p>
        </p:txBody>
      </p:sp>
      <p:pic>
        <p:nvPicPr>
          <p:cNvPr id="5" name="Picture 4" descr="tmpls3j2n2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Sequential Dependence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Structure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BM25 is Bag-of-Words (ignorant of order).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SDM verifies phrases (e.g., 'White House' != 'House White').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Weights: Term(0.75), Ordered(0.10), Unordered(0.15).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Verdict: Slight gain (+0.001), but neural models capture this implicitly.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h7pt0di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METHOD 3: NEURAL RERANKING</a:t>
            </a:r>
          </a:p>
        </p:txBody>
      </p:sp>
      <p:pic>
        <p:nvPicPr>
          <p:cNvPr id="5" name="Picture 4" descr="tmpls3j2n2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MonoT5-3B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Cross-Encoder vs Bi-Encoder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Bi-Encoder (BGE): Fast, shallow (Dot product).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Cross-Encoder (MonoT5): Slow, deep (Full Attention).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Input: 'Query: [q] Document: [d] Relevant:'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Output: Logits(True) - Logits(False).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Scale: 3 Billion Parameters (vs 220M base) -&gt; +26% improvement.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h7pt0di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METHOD 3: HANDLING LONG DOCS</a:t>
            </a:r>
          </a:p>
        </p:txBody>
      </p:sp>
      <p:pic>
        <p:nvPicPr>
          <p:cNvPr id="5" name="Picture 4" descr="tmpls3j2n2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MaxP Aggregation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The 'Needle in a Haystack'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Robust04 docs exceed 512 tokens.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Algorithm (MaxP):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1. Split doc into sliding windows (1500 chars).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2. Score ALL windows independently.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3. Doc Score = MAX(window scores).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Citations: Aligns with Birch (2019) &amp; PARADE-Max (2020).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h7pt0di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NEGATIVE RESULT: NEURAL PRF</a:t>
            </a:r>
          </a:p>
        </p:txBody>
      </p:sp>
      <p:pic>
        <p:nvPicPr>
          <p:cNvPr id="5" name="Picture 4" descr="tmpls3j2n2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Why 'Better' Isn't Always Better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The Hypothesis vs Reality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Idea: Use MonoT5's top docs to expand the query (PRF).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Result: Performance DROPPED (-10% MAP).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Diagnosis: Query Drift.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- Neural models retrieve 'semantically' relevant text.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- Extracting keywords from them adds noise/drift away from original specific intent.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   - Lesson: Keep Query Expansion Conservative (RM3).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h7pt0di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FINAL RESULTS</a:t>
            </a:r>
          </a:p>
        </p:txBody>
      </p:sp>
      <p:pic>
        <p:nvPicPr>
          <p:cNvPr id="5" name="Picture 4" descr="tmpls3j2n2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Quantitative Impact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MAP Scores (Judged)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1. Baseline (BM25 + RM3): 0.272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2. Fusion (Sparse + Dense): 0.306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3. MonoT5 (Base Model): 0.300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4. MonoT5-3B (MaxP): 0.378  &lt;-- WINNER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Total Improvement: +39%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h7pt0di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DISCUSSION &amp; FUTURE WORK</a:t>
            </a:r>
          </a:p>
        </p:txBody>
      </p:sp>
      <p:pic>
        <p:nvPicPr>
          <p:cNvPr id="5" name="Picture 4" descr="tmpls3j2n2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What We Learned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Fusion &gt; Single Model: Diversity of signals is key.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Size Matters: 3B params significantly outperformed Base.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Simple Aggregation (MaxP) is robust for sparse relevance.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Future: Train a PARADE-CNN aggregator if more training data becomes available.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h7pt0di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REFERENCES</a:t>
            </a:r>
          </a:p>
        </p:txBody>
      </p:sp>
      <p:pic>
        <p:nvPicPr>
          <p:cNvPr id="5" name="Picture 4" descr="tmpls3j2n2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Academic Foundation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1. Nogueira et al. (2020). Document Ranking with a Pretrained Sequence-to-Sequence Model.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2. Yilmaz et al. (2019). Birch: Cross-Domain Modeling of Sentence-Level Evidence.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3. Li et al. (2020). PARADE: Passage Representation Aggregation.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4. Formal et al. (2021). SPLADE: Sparse Lexical and Expansion Model.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5. Gao et al. (2022). Precise Zero-Shot Dense Retrieval (HyDE).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h7pt0di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7432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>
                <a:solidFill>
                  <a:srgbClr val="FFFFFF"/>
                </a:solidFill>
                <a:latin typeface="Segoe UI Black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